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18220" y="0"/>
            <a:ext cx="4067251" cy="6858000"/>
          </a:xfrm>
          <a:prstGeom prst="rect">
            <a:avLst/>
          </a:prstGeom>
          <a:solidFill>
            <a:srgbClr val="F9FAFB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-2029" b="-2029"/>
          <a:stretch/>
        </p:blipFill>
        <p:spPr>
          <a:xfrm>
            <a:off x="9782251" y="4657954"/>
            <a:ext cx="2790749" cy="25813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2E6D"/>
          </a:solidFill>
          <a:ln/>
        </p:spPr>
      </p:sp>
      <p:sp>
        <p:nvSpPr>
          <p:cNvPr id="7" name="Shape 4"/>
          <p:cNvSpPr/>
          <p:nvPr/>
        </p:nvSpPr>
        <p:spPr>
          <a:xfrm>
            <a:off x="761695" y="1334110"/>
            <a:ext cx="106683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5"/>
          <p:cNvSpPr/>
          <p:nvPr/>
        </p:nvSpPr>
        <p:spPr>
          <a:xfrm>
            <a:off x="761695" y="629107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02E6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5995" y="743407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1695" y="1509674"/>
            <a:ext cx="1857146" cy="323698"/>
          </a:xfrm>
          <a:prstGeom prst="roundRect">
            <a:avLst>
              <a:gd name="adj" fmla="val 1661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1695" y="4919472"/>
            <a:ext cx="10668305" cy="1920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8"/>
          <p:cNvSpPr/>
          <p:nvPr/>
        </p:nvSpPr>
        <p:spPr>
          <a:xfrm>
            <a:off x="761695" y="524317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9FA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1064" r="-1064" t="0" b="0"/>
          <a:stretch/>
        </p:blipFill>
        <p:spPr>
          <a:xfrm>
            <a:off x="843077" y="5348326"/>
            <a:ext cx="219456" cy="17190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20794" y="524317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4635094" y="5348326"/>
            <a:ext cx="152705" cy="17190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80806" y="524317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CFDF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85048" y="5348326"/>
            <a:ext cx="171907" cy="17190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619049"/>
            <a:ext cx="2233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DOCUMENTATION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1371600" y="866851"/>
            <a:ext cx="21387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Analytics Dashboard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0109606" y="638251"/>
            <a:ext cx="1452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December 2025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10391242" y="923544"/>
            <a:ext cx="11484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923544" y="1585570"/>
            <a:ext cx="16340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BRIEFING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2061972"/>
            <a:ext cx="8753551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 Intelligence &amp; Attrition Analysis</a:t>
            </a:r>
            <a:endParaRPr lang="en-US" sz="54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3834079"/>
            <a:ext cx="870143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review of retention levers, value-at-stake, and strategic planning for the next 12 months.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1295705" y="5348326"/>
            <a:ext cx="9006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786323"/>
            <a:ext cx="20290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CEO, CHRO, CFO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054803" y="5348326"/>
            <a:ext cx="13295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&amp; SCALE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520794" y="5824728"/>
            <a:ext cx="8485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591</a:t>
            </a:r>
            <a:endParaRPr lang="en-US" sz="2700" dirty="0"/>
          </a:p>
        </p:txBody>
      </p:sp>
      <p:sp>
        <p:nvSpPr>
          <p:cNvPr id="29" name="Text 22"/>
          <p:cNvSpPr txBox="1"/>
          <p:nvPr/>
        </p:nvSpPr>
        <p:spPr>
          <a:xfrm>
            <a:off x="5143500" y="6005779"/>
            <a:ext cx="715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192317" y="5824728"/>
            <a:ext cx="12865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14.7%</a:t>
            </a:r>
            <a:endParaRPr lang="en-US" sz="2700" dirty="0"/>
          </a:p>
        </p:txBody>
      </p:sp>
      <p:sp>
        <p:nvSpPr>
          <p:cNvPr id="31" name="Text 24"/>
          <p:cNvSpPr txBox="1"/>
          <p:nvPr/>
        </p:nvSpPr>
        <p:spPr>
          <a:xfrm>
            <a:off x="7252106" y="6005779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813902" y="5348326"/>
            <a:ext cx="1252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OUTCOME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8280806" y="5786323"/>
            <a:ext cx="2900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 on targets, initiatives, and governance for attrition reduction.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942746"/>
            <a:ext cx="5086807" cy="591525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5077663" y="942746"/>
            <a:ext cx="9144" cy="591525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460443" y="333756"/>
            <a:ext cx="1218895" cy="12188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5080406" y="942746"/>
            <a:ext cx="7114946" cy="59152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9006" y="1307592"/>
            <a:ext cx="27678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309006" y="1754734"/>
            <a:ext cx="52340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reactive management to proactive analytics.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9006" y="2145182"/>
            <a:ext cx="3258007" cy="1676095"/>
          </a:xfrm>
          <a:prstGeom prst="roundRect">
            <a:avLst>
              <a:gd name="adj" fmla="val 2480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70855" y="230703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65953" y="2403043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70855" y="2830982"/>
            <a:ext cx="1491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Attrition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70855" y="3117190"/>
            <a:ext cx="288218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and mitigate risk factors for specific segments (Age 26-35) before departures occur.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712403" y="2145182"/>
            <a:ext cx="3258007" cy="1676095"/>
          </a:xfrm>
          <a:prstGeom prst="roundRect">
            <a:avLst>
              <a:gd name="adj" fmla="val 2480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74252" y="230703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9350" y="2403043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874252" y="2830982"/>
            <a:ext cx="18626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Satisfaction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874252" y="3117190"/>
            <a:ext cx="273862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 job satisfaction with retention to address role-specific burnout and engagement issues.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309006" y="3972154"/>
            <a:ext cx="3258007" cy="1676095"/>
          </a:xfrm>
          <a:prstGeom prst="roundRect">
            <a:avLst>
              <a:gd name="adj" fmla="val 2480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70855" y="41340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42178" y="4229100"/>
            <a:ext cx="237744" cy="1901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470855" y="4657954"/>
            <a:ext cx="1843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Planning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470855" y="4943246"/>
            <a:ext cx="29672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diverse succession pipelines and balanced demographics for long-term health.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712403" y="3972154"/>
            <a:ext cx="3258007" cy="1676095"/>
          </a:xfrm>
          <a:prstGeom prst="roundRect">
            <a:avLst>
              <a:gd name="adj" fmla="val 2480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874252" y="41340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69350" y="4229100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874252" y="4657954"/>
            <a:ext cx="15672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Decisions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874252" y="4943246"/>
            <a:ext cx="268193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leadership with actionable, data-backed recommendations for policy adjustments.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309006" y="5874106"/>
            <a:ext cx="6657746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309006" y="6036869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5309006" y="6255410"/>
            <a:ext cx="1719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Gut-Feel Decisions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7199986" y="6246266"/>
            <a:ext cx="2333549" cy="38405"/>
          </a:xfrm>
          <a:prstGeom prst="roundRect">
            <a:avLst>
              <a:gd name="adj" fmla="val 2380940"/>
            </a:avLst>
          </a:prstGeom>
          <a:solidFill>
            <a:srgbClr val="E5E7EB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87" b="-1087"/>
          <a:stretch/>
        </p:blipFill>
        <p:spPr>
          <a:xfrm>
            <a:off x="9423806" y="6172200"/>
            <a:ext cx="105156" cy="17190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1792102" y="6036869"/>
            <a:ext cx="257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5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9832543" y="6255410"/>
            <a:ext cx="22622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Strategy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8" name="Shape 31"/>
          <p:cNvSpPr/>
          <p:nvPr/>
        </p:nvSpPr>
        <p:spPr>
          <a:xfrm>
            <a:off x="0" y="6782105"/>
            <a:ext cx="3047695" cy="75895"/>
          </a:xfrm>
          <a:prstGeom prst="rect">
            <a:avLst/>
          </a:prstGeom>
          <a:solidFill>
            <a:srgbClr val="002E6D"/>
          </a:solidFill>
          <a:ln/>
        </p:spPr>
      </p:sp>
      <p:sp>
        <p:nvSpPr>
          <p:cNvPr id="39" name="Shape 32"/>
          <p:cNvSpPr/>
          <p:nvPr/>
        </p:nvSpPr>
        <p:spPr>
          <a:xfrm>
            <a:off x="228600" y="3631082"/>
            <a:ext cx="4619549" cy="1257300"/>
          </a:xfrm>
          <a:prstGeom prst="roundRect">
            <a:avLst>
              <a:gd name="adj" fmla="val 44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28600" y="3631082"/>
            <a:ext cx="75895" cy="12573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28600" y="5403190"/>
            <a:ext cx="152705" cy="152705"/>
          </a:xfrm>
          <a:prstGeom prst="rect">
            <a:avLst/>
          </a:prstGeom>
        </p:spPr>
      </p:pic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28600" y="5974690"/>
            <a:ext cx="152705" cy="152705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228600" y="1655064"/>
            <a:ext cx="1162202" cy="323698"/>
          </a:xfrm>
          <a:prstGeom prst="roundRect">
            <a:avLst>
              <a:gd name="adj" fmla="val 4985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390449" y="1730959"/>
            <a:ext cx="939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NOW?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228600" y="2093062"/>
            <a:ext cx="4081882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 stability is under pressure.</a:t>
            </a:r>
            <a:endParaRPr lang="en-US" sz="2200" dirty="0"/>
          </a:p>
        </p:txBody>
      </p:sp>
      <p:sp>
        <p:nvSpPr>
          <p:cNvPr id="46" name="Text 37"/>
          <p:cNvSpPr txBox="1"/>
          <p:nvPr/>
        </p:nvSpPr>
        <p:spPr>
          <a:xfrm>
            <a:off x="228600" y="2959913"/>
            <a:ext cx="423458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capital is our key differentiator, yet we face increasing complexity in managing retention.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457200" y="3727094"/>
            <a:ext cx="1714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14.7%</a:t>
            </a:r>
            <a:endParaRPr lang="en-US" sz="3600" dirty="0"/>
          </a:p>
        </p:txBody>
      </p:sp>
      <p:sp>
        <p:nvSpPr>
          <p:cNvPr id="48" name="Text 39"/>
          <p:cNvSpPr txBox="1"/>
          <p:nvPr/>
        </p:nvSpPr>
        <p:spPr>
          <a:xfrm>
            <a:off x="1971446" y="3955694"/>
            <a:ext cx="2210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ATTRITION RATE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457200" y="4326941"/>
            <a:ext cx="40773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turnover drives direct replacement costs, disrupts productivity, and erodes institutional knowledge.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228600" y="5050231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495605" y="5364785"/>
            <a:ext cx="43626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Reactive Approach: Current management relies on intuition rather than evidence.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495605" y="5936285"/>
            <a:ext cx="4334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Spots: Lack of clarity on who leaves, when, and why.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0" y="0"/>
            <a:ext cx="12191695" cy="9427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5"/>
          <p:cNvSpPr/>
          <p:nvPr/>
        </p:nvSpPr>
        <p:spPr>
          <a:xfrm>
            <a:off x="0" y="933602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5" name="Shape 46"/>
          <p:cNvSpPr/>
          <p:nvPr/>
        </p:nvSpPr>
        <p:spPr>
          <a:xfrm>
            <a:off x="381305" y="276149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2E6D"/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42" b="-842"/>
          <a:stretch/>
        </p:blipFill>
        <p:spPr>
          <a:xfrm>
            <a:off x="476402" y="381305"/>
            <a:ext cx="190195" cy="171907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914400" y="200254"/>
            <a:ext cx="2272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ANALYTICS DASHBOARD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914400" y="400507"/>
            <a:ext cx="44055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Challenge &amp; Context</a:t>
            </a:r>
            <a:endParaRPr lang="en-US" sz="2200" dirty="0"/>
          </a:p>
        </p:txBody>
      </p:sp>
      <p:sp>
        <p:nvSpPr>
          <p:cNvPr id="59" name="Text 49"/>
          <p:cNvSpPr txBox="1"/>
          <p:nvPr/>
        </p:nvSpPr>
        <p:spPr>
          <a:xfrm>
            <a:off x="10074859" y="371246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BRIEFING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0" y="219456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EFF6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61695" y="5544007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F3F4F6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002E6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304849"/>
            <a:ext cx="109545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591 employee records reveals critical workforce health indicators. A 14.7% attrition rate signals a need for immediate intervention.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219249"/>
            <a:ext cx="3610051" cy="1981505"/>
          </a:xfrm>
          <a:prstGeom prst="roundRect">
            <a:avLst>
              <a:gd name="adj" fmla="val 26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2754" y="2457907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EFF6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80" r="-80" t="0" b="0"/>
          <a:stretch/>
        </p:blipFill>
        <p:spPr>
          <a:xfrm>
            <a:off x="3416198" y="2609698"/>
            <a:ext cx="286207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4944" y="3648456"/>
            <a:ext cx="3133649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2194" y="2219249"/>
            <a:ext cx="3610051" cy="1981505"/>
          </a:xfrm>
          <a:prstGeom prst="roundRect">
            <a:avLst>
              <a:gd name="adj" fmla="val 26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27748" y="2457907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EF2F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80" r="-80" t="0" b="0"/>
          <a:stretch/>
        </p:blipFill>
        <p:spPr>
          <a:xfrm>
            <a:off x="7252106" y="2609698"/>
            <a:ext cx="286207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30852" y="3648456"/>
            <a:ext cx="3133649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Shape 13"/>
          <p:cNvSpPr/>
          <p:nvPr/>
        </p:nvSpPr>
        <p:spPr>
          <a:xfrm>
            <a:off x="457200" y="4429354"/>
            <a:ext cx="3610051" cy="1981505"/>
          </a:xfrm>
          <a:prstGeom prst="roundRect">
            <a:avLst>
              <a:gd name="adj" fmla="val 26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92754" y="4667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ECFDF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3473806" y="4819802"/>
            <a:ext cx="171907" cy="2286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94944" y="5857646"/>
            <a:ext cx="3133649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Shape 16"/>
          <p:cNvSpPr/>
          <p:nvPr/>
        </p:nvSpPr>
        <p:spPr>
          <a:xfrm>
            <a:off x="4292194" y="4429354"/>
            <a:ext cx="3610051" cy="1981505"/>
          </a:xfrm>
          <a:prstGeom prst="roundRect">
            <a:avLst>
              <a:gd name="adj" fmla="val 26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33234" y="4667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EEF2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7296912" y="4819802"/>
            <a:ext cx="200254" cy="228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30852" y="6381598"/>
            <a:ext cx="3133649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Shape 19"/>
          <p:cNvSpPr/>
          <p:nvPr/>
        </p:nvSpPr>
        <p:spPr>
          <a:xfrm>
            <a:off x="8128102" y="4429354"/>
            <a:ext cx="3610051" cy="1981505"/>
          </a:xfrm>
          <a:prstGeom prst="roundRect">
            <a:avLst>
              <a:gd name="adj" fmla="val 26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962742" y="4667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FFBE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115446" y="4819802"/>
            <a:ext cx="228600" cy="2286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365846" y="5857646"/>
            <a:ext cx="3133649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94944" y="2486254"/>
            <a:ext cx="18342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EMPLOYEES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694944" y="2723998"/>
            <a:ext cx="16578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591</a:t>
            </a:r>
            <a:endParaRPr lang="en-US" sz="5400" dirty="0"/>
          </a:p>
        </p:txBody>
      </p:sp>
      <p:sp>
        <p:nvSpPr>
          <p:cNvPr id="31" name="Text 24"/>
          <p:cNvSpPr txBox="1"/>
          <p:nvPr/>
        </p:nvSpPr>
        <p:spPr>
          <a:xfrm>
            <a:off x="694944" y="3781044"/>
            <a:ext cx="21387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workforce sample size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530852" y="2486254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COUNT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4530852" y="2723998"/>
            <a:ext cx="134325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</a:t>
            </a:r>
            <a:endParaRPr lang="en-US" sz="5400" dirty="0"/>
          </a:p>
        </p:txBody>
      </p:sp>
      <p:sp>
        <p:nvSpPr>
          <p:cNvPr id="34" name="Text 27"/>
          <p:cNvSpPr txBox="1"/>
          <p:nvPr/>
        </p:nvSpPr>
        <p:spPr>
          <a:xfrm>
            <a:off x="4530852" y="3781044"/>
            <a:ext cx="1767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departures in period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694944" y="4695444"/>
            <a:ext cx="12719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TENURE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694944" y="4934102"/>
            <a:ext cx="215341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Yrs</a:t>
            </a:r>
            <a:endParaRPr lang="en-US" sz="5400" dirty="0"/>
          </a:p>
        </p:txBody>
      </p:sp>
      <p:sp>
        <p:nvSpPr>
          <p:cNvPr id="37" name="Text 30"/>
          <p:cNvSpPr txBox="1"/>
          <p:nvPr/>
        </p:nvSpPr>
        <p:spPr>
          <a:xfrm>
            <a:off x="694944" y="5991149"/>
            <a:ext cx="2186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 for organizational stability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4530852" y="4695444"/>
            <a:ext cx="9198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AGE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4530852" y="4934102"/>
            <a:ext cx="1895551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37.3 Yrs</a:t>
            </a:r>
            <a:endParaRPr lang="en-US" sz="5400" dirty="0"/>
          </a:p>
        </p:txBody>
      </p:sp>
      <p:sp>
        <p:nvSpPr>
          <p:cNvPr id="40" name="Text 33"/>
          <p:cNvSpPr txBox="1"/>
          <p:nvPr/>
        </p:nvSpPr>
        <p:spPr>
          <a:xfrm>
            <a:off x="4530852" y="6515100"/>
            <a:ext cx="1919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Reflects a mature workforce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8365846" y="4695444"/>
            <a:ext cx="1281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SALARY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8365846" y="4934102"/>
            <a:ext cx="25054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6.68K</a:t>
            </a:r>
            <a:endParaRPr lang="en-US" sz="5400" dirty="0"/>
          </a:p>
        </p:txBody>
      </p:sp>
      <p:sp>
        <p:nvSpPr>
          <p:cNvPr id="43" name="Text 36"/>
          <p:cNvSpPr txBox="1"/>
          <p:nvPr/>
        </p:nvSpPr>
        <p:spPr>
          <a:xfrm>
            <a:off x="8365846" y="5991149"/>
            <a:ext cx="2177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compensation benchmark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8128102" y="2219249"/>
            <a:ext cx="3610051" cy="1981505"/>
          </a:xfrm>
          <a:prstGeom prst="roundRect">
            <a:avLst>
              <a:gd name="adj" fmla="val 26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128102" y="2219249"/>
            <a:ext cx="75895" cy="198150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Shape 39"/>
          <p:cNvSpPr/>
          <p:nvPr/>
        </p:nvSpPr>
        <p:spPr>
          <a:xfrm>
            <a:off x="11125505" y="1914754"/>
            <a:ext cx="914400" cy="9144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7" name="Shape 40"/>
          <p:cNvSpPr/>
          <p:nvPr/>
        </p:nvSpPr>
        <p:spPr>
          <a:xfrm>
            <a:off x="10972800" y="2447849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11153851" y="2600554"/>
            <a:ext cx="171907" cy="22860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8432597" y="2476195"/>
            <a:ext cx="16248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50" name="Text 42"/>
          <p:cNvSpPr txBox="1"/>
          <p:nvPr/>
        </p:nvSpPr>
        <p:spPr>
          <a:xfrm>
            <a:off x="8432597" y="2714854"/>
            <a:ext cx="25146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14.7%</a:t>
            </a:r>
            <a:endParaRPr lang="en-US" sz="5400" dirty="0"/>
          </a:p>
        </p:txBody>
      </p:sp>
      <p:sp>
        <p:nvSpPr>
          <p:cNvPr id="51" name="Shape 43"/>
          <p:cNvSpPr/>
          <p:nvPr/>
        </p:nvSpPr>
        <p:spPr>
          <a:xfrm>
            <a:off x="8432597" y="3657600"/>
            <a:ext cx="3076956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432597" y="3810305"/>
            <a:ext cx="133502" cy="133502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8641994" y="3781044"/>
            <a:ext cx="2110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metric requiring review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457200" y="6562649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7200" y="6752844"/>
            <a:ext cx="133502" cy="133502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666598" y="6734556"/>
            <a:ext cx="87398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Gender distribution totals in dashboard filters may exceed sample size shown here; pending validation for enterprise-wide rollout.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0" y="0"/>
            <a:ext cx="12191695" cy="981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48"/>
          <p:cNvSpPr/>
          <p:nvPr/>
        </p:nvSpPr>
        <p:spPr>
          <a:xfrm>
            <a:off x="0" y="972007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Shape 49"/>
          <p:cNvSpPr/>
          <p:nvPr/>
        </p:nvSpPr>
        <p:spPr>
          <a:xfrm>
            <a:off x="457200" y="295351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2E6D"/>
          </a:solidFill>
          <a:ln/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62356" y="400507"/>
            <a:ext cx="171907" cy="171907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990295" y="237744"/>
            <a:ext cx="2272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ANALYTICS DASHBOARD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990295" y="428854"/>
            <a:ext cx="33293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 Snapshot</a:t>
            </a:r>
            <a:endParaRPr lang="en-US" sz="2200" dirty="0"/>
          </a:p>
        </p:txBody>
      </p:sp>
      <p:sp>
        <p:nvSpPr>
          <p:cNvPr id="63" name="Text 52"/>
          <p:cNvSpPr txBox="1"/>
          <p:nvPr/>
        </p:nvSpPr>
        <p:spPr>
          <a:xfrm>
            <a:off x="9523476" y="400507"/>
            <a:ext cx="2319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82105"/>
            <a:ext cx="9144000" cy="75895"/>
          </a:xfrm>
          <a:prstGeom prst="rect">
            <a:avLst/>
          </a:prstGeom>
          <a:solidFill>
            <a:srgbClr val="002E6D"/>
          </a:solidFill>
          <a:ln/>
        </p:spPr>
      </p:sp>
      <p:sp>
        <p:nvSpPr>
          <p:cNvPr id="6" name="Shape 4"/>
          <p:cNvSpPr/>
          <p:nvPr/>
        </p:nvSpPr>
        <p:spPr>
          <a:xfrm>
            <a:off x="381305" y="2000707"/>
            <a:ext cx="3657600" cy="5201107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44698" y="2162556"/>
            <a:ext cx="1037844" cy="267005"/>
          </a:xfrm>
          <a:prstGeom prst="roundRect">
            <a:avLst>
              <a:gd name="adj" fmla="val 342465"/>
            </a:avLst>
          </a:prstGeom>
          <a:solidFill>
            <a:srgbClr val="FEE2E2"/>
          </a:solidFill>
          <a:ln/>
        </p:spPr>
      </p:sp>
      <p:sp>
        <p:nvSpPr>
          <p:cNvPr id="8" name="Shape 6"/>
          <p:cNvSpPr/>
          <p:nvPr/>
        </p:nvSpPr>
        <p:spPr>
          <a:xfrm>
            <a:off x="543154" y="5751576"/>
            <a:ext cx="3333902" cy="1285646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9" name="Shape 7"/>
          <p:cNvSpPr/>
          <p:nvPr/>
        </p:nvSpPr>
        <p:spPr>
          <a:xfrm>
            <a:off x="543154" y="5751576"/>
            <a:ext cx="57607" cy="128564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267505" y="2000707"/>
            <a:ext cx="3657600" cy="5201107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9354" y="5515661"/>
            <a:ext cx="3333902" cy="1514246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9354" y="5515661"/>
            <a:ext cx="57607" cy="151424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53705" y="2000707"/>
            <a:ext cx="3657600" cy="5201107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254996" y="2200046"/>
            <a:ext cx="1399946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15554" y="5751576"/>
            <a:ext cx="3333902" cy="128564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5554" y="5751576"/>
            <a:ext cx="57607" cy="1285646"/>
          </a:xfrm>
          <a:prstGeom prst="rect">
            <a:avLst/>
          </a:prstGeom>
          <a:solidFill>
            <a:srgbClr val="0056B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1305" y="1228954"/>
            <a:ext cx="1106881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 analysis identifies distinct high-risk cohorts. The 26-35 age group and employees with "Other" educational backgrounds are primary drivers of turnover.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3154" y="2180844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AGE GROUP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958998" y="2210105"/>
            <a:ext cx="909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Risk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52551" y="5922569"/>
            <a:ext cx="1038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2551" y="6179515"/>
            <a:ext cx="30248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employees (53% of attrition) left from the 26-35 bracket, indicating volatility in early-mid career stages.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29354" y="2180844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EDUCATION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5372" y="2210105"/>
            <a:ext cx="13478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Misalignment?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38751" y="5686654"/>
            <a:ext cx="1038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38751" y="5943600"/>
            <a:ext cx="2757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"Other" (38) and "Medical" (19) fields account for 65% of departures, suggesting potential role misalignment.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15554" y="2180844"/>
            <a:ext cx="12673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TENURE (YEARS)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369296" y="2247595"/>
            <a:ext cx="8147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Milestones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24951" y="5922569"/>
            <a:ext cx="1038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524951" y="6179515"/>
            <a:ext cx="269107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Distinct spikes at Year 1 (early churn) and Year 29 (retirement) reveal bimodal risk.</a:t>
            </a:r>
            <a:endParaRPr lang="en-US" sz="13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46" b="-146"/>
          <a:stretch/>
        </p:blipFill>
        <p:spPr>
          <a:xfrm>
            <a:off x="543154" y="2542946"/>
            <a:ext cx="3333902" cy="3095244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4429354" y="2542946"/>
            <a:ext cx="3333902" cy="2857500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71" b="-171"/>
          <a:stretch/>
        </p:blipFill>
        <p:spPr>
          <a:xfrm>
            <a:off x="8315554" y="2809951"/>
            <a:ext cx="3333902" cy="2829154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9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Shape 30"/>
          <p:cNvSpPr/>
          <p:nvPr/>
        </p:nvSpPr>
        <p:spPr>
          <a:xfrm>
            <a:off x="381305" y="286207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002E6D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5546" y="390449"/>
            <a:ext cx="171907" cy="171907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14400" y="200254"/>
            <a:ext cx="2272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ANALYTICS DASHBOARD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914400" y="418795"/>
            <a:ext cx="49578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Insights: Attrition Patterns</a:t>
            </a:r>
            <a:endParaRPr lang="en-US" sz="2200" dirty="0"/>
          </a:p>
        </p:txBody>
      </p:sp>
      <p:sp>
        <p:nvSpPr>
          <p:cNvPr id="39" name="Text 33"/>
          <p:cNvSpPr txBox="1"/>
          <p:nvPr/>
        </p:nvSpPr>
        <p:spPr>
          <a:xfrm>
            <a:off x="10294315" y="390449"/>
            <a:ext cx="1624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82105"/>
            <a:ext cx="9753905" cy="75895"/>
          </a:xfrm>
          <a:prstGeom prst="rect">
            <a:avLst/>
          </a:prstGeom>
          <a:solidFill>
            <a:srgbClr val="002E6D"/>
          </a:solidFill>
          <a:ln/>
        </p:spPr>
      </p:sp>
      <p:sp>
        <p:nvSpPr>
          <p:cNvPr id="6" name="Shape 4"/>
          <p:cNvSpPr/>
          <p:nvPr/>
        </p:nvSpPr>
        <p:spPr>
          <a:xfrm>
            <a:off x="8102498" y="1019556"/>
            <a:ext cx="3791102" cy="2133295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02498" y="1019556"/>
            <a:ext cx="75895" cy="213329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8369503" y="12097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EE2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36254" y="1276502"/>
            <a:ext cx="171907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369503" y="2124151"/>
            <a:ext cx="3448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Sales: Likely driven by commission structure volatility.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369503" y="2581351"/>
            <a:ext cx="3448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Techs: Potential issues with repetitive workload.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04495" y="1028700"/>
            <a:ext cx="7182612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reveals a polarization of sentiment. While leadership roles report high engagement, Sales Representatives and Lab Technicians show alarming dissatisfaction rates.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788298" y="1248156"/>
            <a:ext cx="1705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Hotspots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369503" y="1600200"/>
            <a:ext cx="32964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Reps and Lab Technicians display the highest concentration of "1" and "2" ratings.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4495" y="1919326"/>
            <a:ext cx="7572146" cy="4791456"/>
          </a:xfrm>
          <a:prstGeom prst="roundRect">
            <a:avLst>
              <a:gd name="adj" fmla="val 4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66344" y="2309774"/>
            <a:ext cx="7248449" cy="42382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02498" y="3305556"/>
            <a:ext cx="3791102" cy="3400654"/>
          </a:xfrm>
          <a:prstGeom prst="roundRect">
            <a:avLst>
              <a:gd name="adj" fmla="val 904"/>
            </a:avLst>
          </a:prstGeom>
          <a:solidFill>
            <a:srgbClr val="002E6D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0" r="0" t="0" b="0"/>
          <a:stretch/>
        </p:blipFill>
        <p:spPr>
          <a:xfrm>
            <a:off x="11315700" y="6019495"/>
            <a:ext cx="800100" cy="914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257446" y="2061972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F4444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428439" y="2042770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(1)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969764" y="2061972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B923C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141671" y="2042770"/>
            <a:ext cx="800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Med-Low (2)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000293" y="2061972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93C5FD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172200" y="2042770"/>
            <a:ext cx="829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Med-High (3)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059168" y="2061972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E3A8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231075" y="2042770"/>
            <a:ext cx="534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(4)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8293608" y="4157777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8378647" y="4233672"/>
            <a:ext cx="133502" cy="1527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712403" y="4196182"/>
            <a:ext cx="1886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Actions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8293608" y="4595774"/>
            <a:ext cx="190195" cy="190195"/>
          </a:xfrm>
          <a:prstGeom prst="roundRect">
            <a:avLst>
              <a:gd name="adj" fmla="val 480770"/>
            </a:avLst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364017" y="4614977"/>
            <a:ext cx="143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293608" y="5290718"/>
            <a:ext cx="190195" cy="190195"/>
          </a:xfrm>
          <a:prstGeom prst="roundRect">
            <a:avLst>
              <a:gd name="adj" fmla="val 480770"/>
            </a:avLst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352130" y="5309921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559698" y="4595774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Deep-Dive Pulse Survey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8559698" y="4824374"/>
            <a:ext cx="297728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specific questionnaires to Sales &amp; Lab teams to isolate root causes.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8559698" y="5290718"/>
            <a:ext cx="1705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Enablement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8559698" y="5519318"/>
            <a:ext cx="307238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 frontline managers with retention toolkits and intervention budgets.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0" y="0"/>
            <a:ext cx="12191695" cy="866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3"/>
          <p:cNvSpPr/>
          <p:nvPr/>
        </p:nvSpPr>
        <p:spPr>
          <a:xfrm>
            <a:off x="0" y="857707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Shape 34"/>
          <p:cNvSpPr/>
          <p:nvPr/>
        </p:nvSpPr>
        <p:spPr>
          <a:xfrm>
            <a:off x="304495" y="237744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2E6D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00507" y="333756"/>
            <a:ext cx="190195" cy="19019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38505" y="161849"/>
            <a:ext cx="2272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ANALYTICS DASHBOARD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838505" y="362102"/>
            <a:ext cx="3615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Satisfaction by Role</a:t>
            </a:r>
            <a:endParaRPr lang="en-US" sz="2200" dirty="0"/>
          </a:p>
        </p:txBody>
      </p:sp>
      <p:sp>
        <p:nvSpPr>
          <p:cNvPr id="44" name="Text 37"/>
          <p:cNvSpPr txBox="1"/>
          <p:nvPr/>
        </p:nvSpPr>
        <p:spPr>
          <a:xfrm>
            <a:off x="10291572" y="342900"/>
            <a:ext cx="1700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&amp; HOTSPOTS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06770" y="1133856"/>
            <a:ext cx="1352398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381305" y="1514246"/>
            <a:ext cx="6676949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305" y="1514246"/>
            <a:ext cx="75895" cy="100949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66951"/>
            <a:ext cx="85954" cy="381305"/>
          </a:xfrm>
          <a:prstGeom prst="roundRect">
            <a:avLst>
              <a:gd name="adj" fmla="val 1063825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1500" y="1723644"/>
            <a:ext cx="228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1305" y="2633472"/>
            <a:ext cx="6676949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305" y="2633472"/>
            <a:ext cx="75895" cy="100949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" y="2842870"/>
            <a:ext cx="267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305" y="3752698"/>
            <a:ext cx="6676949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1305" y="3752698"/>
            <a:ext cx="75895" cy="100949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" y="3905402"/>
            <a:ext cx="123444" cy="381305"/>
          </a:xfrm>
          <a:prstGeom prst="roundRect">
            <a:avLst>
              <a:gd name="adj" fmla="val 740741"/>
            </a:avLst>
          </a:prstGeom>
          <a:solidFill>
            <a:srgbClr val="EFF6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" y="3962095"/>
            <a:ext cx="267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1305" y="4871923"/>
            <a:ext cx="6676949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1305" y="4871923"/>
            <a:ext cx="75895" cy="100949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5024628"/>
            <a:ext cx="133502" cy="381305"/>
          </a:xfrm>
          <a:prstGeom prst="roundRect">
            <a:avLst>
              <a:gd name="adj" fmla="val 684934"/>
            </a:avLst>
          </a:prstGeom>
          <a:solidFill>
            <a:srgbClr val="EEF2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" y="5081321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1305" y="5991149"/>
            <a:ext cx="6676949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1305" y="5991149"/>
            <a:ext cx="75895" cy="100949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" y="6143854"/>
            <a:ext cx="123444" cy="381305"/>
          </a:xfrm>
          <a:prstGeom prst="roundRect">
            <a:avLst>
              <a:gd name="adj" fmla="val 740741"/>
            </a:avLst>
          </a:prstGeom>
          <a:solidFill>
            <a:srgbClr val="F3F4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1500" y="6200546"/>
            <a:ext cx="267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81305" y="1104595"/>
            <a:ext cx="2343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Priority Initiatives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821070" y="1181405"/>
            <a:ext cx="12243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Execution: Q1-Q2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06501" y="1647749"/>
            <a:ext cx="385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"Stay Interviews" (Age 26-35)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6501" y="1943100"/>
            <a:ext cx="62252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proactive retention discussions for the highest risk group (46 exits). Identify individual career aspirations before resignation letters land.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3991" y="2766974"/>
            <a:ext cx="4038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Architecture for "Other" &amp; Medical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43991" y="3062326"/>
            <a:ext cx="59298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the 65% attrition share in these fields by creating clear internal mobility maps and skill utilization reviews.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46734" y="3886200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&amp; Early Career Support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46734" y="4181551"/>
            <a:ext cx="59582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 the Year 1 attrition spike with a structured 12-month onboarding program, including mentorship and 90-day check-ins.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53135" y="5005426"/>
            <a:ext cx="3734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Role-Specific Engagement (Sales/Lab)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53135" y="5300777"/>
            <a:ext cx="60057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low satisfaction scores through comp structure review for Sales and workload balancing for Lab Technicians.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42162" y="6124651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Succession Planning (Senior Tenure)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2162" y="6420002"/>
            <a:ext cx="61008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Mitigate knowledge loss from the Year 29 spike by formalizing knowledge transfer processes and identifying successors.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360920" y="1104595"/>
            <a:ext cx="1762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at Stake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360920" y="1514246"/>
            <a:ext cx="4457700" cy="5486400"/>
          </a:xfrm>
          <a:prstGeom prst="roundRect">
            <a:avLst>
              <a:gd name="adj" fmla="val 526"/>
            </a:avLst>
          </a:prstGeom>
          <a:solidFill>
            <a:srgbClr val="002E6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982505" y="905256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03720" y="5624474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906817" y="6462979"/>
            <a:ext cx="37627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*Assumptions: Replacement cost includes recruitment, training, and ramp-up time.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1305" y="7186270"/>
            <a:ext cx="12191695" cy="384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2" name="Shape 40"/>
          <p:cNvSpPr/>
          <p:nvPr/>
        </p:nvSpPr>
        <p:spPr>
          <a:xfrm>
            <a:off x="381305" y="7186270"/>
            <a:ext cx="10163556" cy="38405"/>
          </a:xfrm>
          <a:prstGeom prst="rect">
            <a:avLst/>
          </a:prstGeom>
          <a:solidFill>
            <a:srgbClr val="002E6D"/>
          </a:solidFill>
          <a:ln/>
        </p:spPr>
      </p:sp>
      <p:sp>
        <p:nvSpPr>
          <p:cNvPr id="43" name="Shape 41"/>
          <p:cNvSpPr/>
          <p:nvPr/>
        </p:nvSpPr>
        <p:spPr>
          <a:xfrm>
            <a:off x="7589520" y="3398825"/>
            <a:ext cx="4000500" cy="9144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rcRect l="-760" r="-760" t="0" b="0"/>
          <a:stretch/>
        </p:blipFill>
        <p:spPr>
          <a:xfrm>
            <a:off x="8555126" y="3007462"/>
            <a:ext cx="152705" cy="171907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7589520" y="4169664"/>
            <a:ext cx="4000500" cy="91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6" name="Shape 43"/>
          <p:cNvSpPr/>
          <p:nvPr/>
        </p:nvSpPr>
        <p:spPr>
          <a:xfrm>
            <a:off x="7589520" y="4712818"/>
            <a:ext cx="4000500" cy="1123798"/>
          </a:xfrm>
          <a:prstGeom prst="roundRect">
            <a:avLst>
              <a:gd name="adj" fmla="val 55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51369" y="5008169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7947050" y="5159959"/>
            <a:ext cx="142646" cy="228600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7589520" y="2226564"/>
            <a:ext cx="25392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SAVINGS PROJECTION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7589520" y="2655418"/>
            <a:ext cx="1953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Attrition Reduction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7589520" y="2902306"/>
            <a:ext cx="10716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14.7%</a:t>
            </a:r>
            <a:endParaRPr lang="en-US" sz="2200" dirty="0"/>
          </a:p>
        </p:txBody>
      </p:sp>
      <p:sp>
        <p:nvSpPr>
          <p:cNvPr id="52" name="Text 48"/>
          <p:cNvSpPr txBox="1"/>
          <p:nvPr/>
        </p:nvSpPr>
        <p:spPr>
          <a:xfrm>
            <a:off x="8822131" y="2902306"/>
            <a:ext cx="10908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2200" dirty="0"/>
          </a:p>
        </p:txBody>
      </p:sp>
      <p:sp>
        <p:nvSpPr>
          <p:cNvPr id="53" name="Text 49"/>
          <p:cNvSpPr txBox="1"/>
          <p:nvPr/>
        </p:nvSpPr>
        <p:spPr>
          <a:xfrm>
            <a:off x="10470794" y="2673706"/>
            <a:ext cx="1228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Retained Talent</a:t>
            </a:r>
            <a:endParaRPr lang="en-US" sz="1200" dirty="0"/>
          </a:p>
        </p:txBody>
      </p:sp>
      <p:sp>
        <p:nvSpPr>
          <p:cNvPr id="54" name="Text 50"/>
          <p:cNvSpPr txBox="1"/>
          <p:nvPr/>
        </p:nvSpPr>
        <p:spPr>
          <a:xfrm>
            <a:off x="10301630" y="2884018"/>
            <a:ext cx="15005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~16 Emp.</a:t>
            </a:r>
            <a:endParaRPr lang="en-US" sz="2200" dirty="0"/>
          </a:p>
        </p:txBody>
      </p:sp>
      <p:sp>
        <p:nvSpPr>
          <p:cNvPr id="55" name="Text 51"/>
          <p:cNvSpPr txBox="1"/>
          <p:nvPr/>
        </p:nvSpPr>
        <p:spPr>
          <a:xfrm>
            <a:off x="7589520" y="3617366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Replacement Cost</a:t>
            </a:r>
            <a:endParaRPr lang="en-US" sz="1200" dirty="0"/>
          </a:p>
        </p:txBody>
      </p:sp>
      <p:sp>
        <p:nvSpPr>
          <p:cNvPr id="56" name="Text 52"/>
          <p:cNvSpPr txBox="1"/>
          <p:nvPr/>
        </p:nvSpPr>
        <p:spPr>
          <a:xfrm>
            <a:off x="7589520" y="3835908"/>
            <a:ext cx="2024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(0.5x Annual Salary of $80.2k)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10659161" y="3636569"/>
            <a:ext cx="11384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$40.1k</a:t>
            </a:r>
            <a:endParaRPr lang="en-US" sz="2200" dirty="0"/>
          </a:p>
        </p:txBody>
      </p:sp>
      <p:sp>
        <p:nvSpPr>
          <p:cNvPr id="58" name="Text 54"/>
          <p:cNvSpPr txBox="1"/>
          <p:nvPr/>
        </p:nvSpPr>
        <p:spPr>
          <a:xfrm>
            <a:off x="7589520" y="438820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Estimated Savings</a:t>
            </a:r>
            <a:endParaRPr lang="en-US" sz="1500" dirty="0"/>
          </a:p>
        </p:txBody>
      </p:sp>
      <p:sp>
        <p:nvSpPr>
          <p:cNvPr id="59" name="Text 55"/>
          <p:cNvSpPr txBox="1"/>
          <p:nvPr/>
        </p:nvSpPr>
        <p:spPr>
          <a:xfrm>
            <a:off x="8475574" y="4817059"/>
            <a:ext cx="2553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$0.64M</a:t>
            </a:r>
            <a:endParaRPr lang="en-US" sz="4500" dirty="0"/>
          </a:p>
        </p:txBody>
      </p:sp>
      <p:sp>
        <p:nvSpPr>
          <p:cNvPr id="60" name="Text 56"/>
          <p:cNvSpPr txBox="1"/>
          <p:nvPr/>
        </p:nvSpPr>
        <p:spPr>
          <a:xfrm>
            <a:off x="8475574" y="5465369"/>
            <a:ext cx="2276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Productivity Gains &amp; Morale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0" y="0"/>
            <a:ext cx="12191695" cy="866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58"/>
          <p:cNvSpPr/>
          <p:nvPr/>
        </p:nvSpPr>
        <p:spPr>
          <a:xfrm>
            <a:off x="0" y="857707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3" name="Shape 59"/>
          <p:cNvSpPr/>
          <p:nvPr/>
        </p:nvSpPr>
        <p:spPr>
          <a:xfrm>
            <a:off x="381305" y="237744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002E6D"/>
          </a:solidFill>
          <a:ln/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5546" y="342900"/>
            <a:ext cx="171907" cy="171907"/>
          </a:xfrm>
          <a:prstGeom prst="rect">
            <a:avLst/>
          </a:prstGeom>
        </p:spPr>
      </p:pic>
      <p:sp>
        <p:nvSpPr>
          <p:cNvPr id="65" name="Text 60"/>
          <p:cNvSpPr txBox="1"/>
          <p:nvPr/>
        </p:nvSpPr>
        <p:spPr>
          <a:xfrm>
            <a:off x="914400" y="161849"/>
            <a:ext cx="2272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ANALYTICS DASHBOARD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914400" y="362102"/>
            <a:ext cx="49770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Recommendations &amp; ROI</a:t>
            </a:r>
            <a:endParaRPr lang="en-US" sz="2200" dirty="0"/>
          </a:p>
        </p:txBody>
      </p:sp>
      <p:sp>
        <p:nvSpPr>
          <p:cNvPr id="67" name="Text 62"/>
          <p:cNvSpPr txBox="1"/>
          <p:nvPr/>
        </p:nvSpPr>
        <p:spPr>
          <a:xfrm>
            <a:off x="10825582" y="342900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PLAN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02E6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391656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6534302"/>
            <a:ext cx="152705" cy="1527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09990" y="6534302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002E6D"/>
          </a:solidFill>
          <a:ln/>
        </p:spPr>
      </p:sp>
      <p:sp>
        <p:nvSpPr>
          <p:cNvPr id="9" name="Shape 6"/>
          <p:cNvSpPr/>
          <p:nvPr/>
        </p:nvSpPr>
        <p:spPr>
          <a:xfrm>
            <a:off x="9839858" y="6534302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0056B3"/>
          </a:solidFill>
          <a:ln/>
        </p:spPr>
      </p:sp>
      <p:sp>
        <p:nvSpPr>
          <p:cNvPr id="10" name="Shape 7"/>
          <p:cNvSpPr/>
          <p:nvPr/>
        </p:nvSpPr>
        <p:spPr>
          <a:xfrm>
            <a:off x="11035894" y="6534302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60A5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961949"/>
            <a:ext cx="107826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phased approach to transition from insights to action, prioritizing immediate retention risks while building long-term institutional capabilities.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6524244"/>
            <a:ext cx="36822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assumes immediate approval of pilot resources.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838590" y="6524244"/>
            <a:ext cx="881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Path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068458" y="6524244"/>
            <a:ext cx="843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264494" y="6524244"/>
            <a:ext cx="5769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67105" y="1952244"/>
            <a:ext cx="10058400" cy="57607"/>
          </a:xfrm>
          <a:prstGeom prst="roundRect">
            <a:avLst>
              <a:gd name="adj" fmla="val 1058205"/>
            </a:avLst>
          </a:prstGeom>
          <a:solidFill>
            <a:srgbClr val="DBEAFE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295144"/>
            <a:ext cx="2648102" cy="3981298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295144"/>
            <a:ext cx="2648102" cy="38405"/>
          </a:xfrm>
          <a:prstGeom prst="rect">
            <a:avLst/>
          </a:prstGeom>
          <a:solidFill>
            <a:srgbClr val="002E6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9905" y="3552444"/>
            <a:ext cx="245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Data: Confirm "Year 29" anomaly &amp; KPI definitions.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09905" y="4086454"/>
            <a:ext cx="245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Stay Interviews: Target Age 26-35 cohort immediately.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09905" y="4619549"/>
            <a:ext cx="24579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Pulse Survey Design: Create targeted pulses for Sales &amp; Lab Techs.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09905" y="2495398"/>
            <a:ext cx="6912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09905" y="2714854"/>
            <a:ext cx="17007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0–30 Days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09905" y="3114446"/>
            <a:ext cx="199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Mobilize &amp; Diagnose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552651" y="17236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2E6D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743761" y="1848002"/>
            <a:ext cx="204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333902" y="2295144"/>
            <a:ext cx="2648102" cy="3981298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33902" y="2295144"/>
            <a:ext cx="2648102" cy="384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486607" y="3552444"/>
            <a:ext cx="24579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Mobility: Pilot pathways for "Medical" &amp; "Other" backgrounds.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486607" y="4315054"/>
            <a:ext cx="24579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Wins: Adjust comp/workload for critical hotspots.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486607" y="5076749"/>
            <a:ext cx="245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Fix: Standardize 90-day check-in process.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486607" y="2495398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3486607" y="2714854"/>
            <a:ext cx="18150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31–60 Days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3486607" y="3114446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Interventions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4429354" y="17236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56B3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4604004" y="1848002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210605" y="2295144"/>
            <a:ext cx="2648102" cy="3981298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210605" y="2295144"/>
            <a:ext cx="2648102" cy="3840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362395" y="3552444"/>
            <a:ext cx="245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Pilots: Expand mobility programs to all depts.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362395" y="4086454"/>
            <a:ext cx="24579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Succession Planning: Map successors for senior tenure exits.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362395" y="4848149"/>
            <a:ext cx="245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Transfer: Formalize handover protocols.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362395" y="2495398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6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362395" y="2714854"/>
            <a:ext cx="18150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61–90 Days</a:t>
            </a:r>
            <a:endParaRPr lang="en-US" sz="2200" dirty="0"/>
          </a:p>
        </p:txBody>
      </p:sp>
      <p:sp>
        <p:nvSpPr>
          <p:cNvPr id="44" name="Text 41"/>
          <p:cNvSpPr txBox="1"/>
          <p:nvPr/>
        </p:nvSpPr>
        <p:spPr>
          <a:xfrm>
            <a:off x="6362395" y="3114446"/>
            <a:ext cx="1686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&amp; Optimize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7306056" y="17236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60A5FA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478878" y="1848002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9087307" y="2295144"/>
            <a:ext cx="2648102" cy="3981298"/>
          </a:xfrm>
          <a:prstGeom prst="roundRect">
            <a:avLst>
              <a:gd name="adj" fmla="val 994"/>
            </a:avLst>
          </a:prstGeom>
          <a:solidFill>
            <a:srgbClr val="002E6D"/>
          </a:solidFill>
          <a:ln/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11125505" y="1686154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0181844" y="17236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374151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10344607" y="1876349"/>
            <a:ext cx="133502" cy="152705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9239098" y="2457907"/>
            <a:ext cx="9573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9239098" y="2676449"/>
            <a:ext cx="13194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– Q4</a:t>
            </a:r>
            <a:endParaRPr lang="en-US" sz="2200" dirty="0"/>
          </a:p>
        </p:txBody>
      </p:sp>
      <p:sp>
        <p:nvSpPr>
          <p:cNvPr id="53" name="Text 49"/>
          <p:cNvSpPr txBox="1"/>
          <p:nvPr/>
        </p:nvSpPr>
        <p:spPr>
          <a:xfrm>
            <a:off x="9239098" y="3076956"/>
            <a:ext cx="1686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 &amp; Embed</a:t>
            </a:r>
            <a:endParaRPr lang="en-US" sz="1500" dirty="0"/>
          </a:p>
        </p:txBody>
      </p:sp>
      <p:sp>
        <p:nvSpPr>
          <p:cNvPr id="54" name="Text 50"/>
          <p:cNvSpPr txBox="1"/>
          <p:nvPr/>
        </p:nvSpPr>
        <p:spPr>
          <a:xfrm>
            <a:off x="9239098" y="3514954"/>
            <a:ext cx="24579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Rollout: Full adoption of data-driven retention policies.</a:t>
            </a:r>
            <a:endParaRPr lang="en-US" sz="1200" dirty="0"/>
          </a:p>
        </p:txBody>
      </p:sp>
      <p:sp>
        <p:nvSpPr>
          <p:cNvPr id="55" name="Text 51"/>
          <p:cNvSpPr txBox="1"/>
          <p:nvPr/>
        </p:nvSpPr>
        <p:spPr>
          <a:xfrm>
            <a:off x="9239098" y="4276649"/>
            <a:ext cx="245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Governance: Quarterly HR analytics reviews with C-Suite.</a:t>
            </a:r>
            <a:endParaRPr lang="en-US" sz="1200" dirty="0"/>
          </a:p>
        </p:txBody>
      </p:sp>
      <p:sp>
        <p:nvSpPr>
          <p:cNvPr id="56" name="Text 52"/>
          <p:cNvSpPr txBox="1"/>
          <p:nvPr/>
        </p:nvSpPr>
        <p:spPr>
          <a:xfrm>
            <a:off x="9239098" y="4809744"/>
            <a:ext cx="2457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Integration: Link attrition models to annual workforce planning.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0" y="0"/>
            <a:ext cx="12191695" cy="7909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4"/>
          <p:cNvSpPr/>
          <p:nvPr/>
        </p:nvSpPr>
        <p:spPr>
          <a:xfrm>
            <a:off x="0" y="78181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Shape 55"/>
          <p:cNvSpPr/>
          <p:nvPr/>
        </p:nvSpPr>
        <p:spPr>
          <a:xfrm>
            <a:off x="457200" y="200254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002E6D"/>
          </a:solidFill>
          <a:ln/>
        </p:spPr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2356" y="304495"/>
            <a:ext cx="171907" cy="171907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990295" y="123444"/>
            <a:ext cx="2272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ANALYTICS DASHBOARD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990295" y="323698"/>
            <a:ext cx="37865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63" name="Text 58"/>
          <p:cNvSpPr txBox="1"/>
          <p:nvPr/>
        </p:nvSpPr>
        <p:spPr>
          <a:xfrm>
            <a:off x="10184587" y="304495"/>
            <a:ext cx="16532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0-90 DAYS &amp; BEYOND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00700" y="1033272"/>
            <a:ext cx="972007" cy="190195"/>
          </a:xfrm>
          <a:prstGeom prst="roundRect">
            <a:avLst>
              <a:gd name="adj" fmla="val 96154"/>
            </a:avLst>
          </a:prstGeom>
          <a:solidFill>
            <a:srgbClr val="D1FAE5"/>
          </a:solidFill>
          <a:ln/>
        </p:spPr>
      </p:sp>
      <p:sp>
        <p:nvSpPr>
          <p:cNvPr id="5" name="Shape 3"/>
          <p:cNvSpPr/>
          <p:nvPr/>
        </p:nvSpPr>
        <p:spPr>
          <a:xfrm>
            <a:off x="304495" y="1338682"/>
            <a:ext cx="3076956" cy="2104949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04495" y="1338682"/>
            <a:ext cx="38405" cy="2104949"/>
          </a:xfrm>
          <a:prstGeom prst="rect">
            <a:avLst/>
          </a:prstGeom>
          <a:solidFill>
            <a:srgbClr val="002E6D"/>
          </a:solidFill>
          <a:ln/>
        </p:spPr>
      </p:sp>
      <p:sp>
        <p:nvSpPr>
          <p:cNvPr id="7" name="Shape 5"/>
          <p:cNvSpPr/>
          <p:nvPr/>
        </p:nvSpPr>
        <p:spPr>
          <a:xfrm>
            <a:off x="3492094" y="1338682"/>
            <a:ext cx="3076956" cy="2104949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92094" y="1338682"/>
            <a:ext cx="38405" cy="2104949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Shape 7"/>
          <p:cNvSpPr/>
          <p:nvPr/>
        </p:nvSpPr>
        <p:spPr>
          <a:xfrm>
            <a:off x="304495" y="3555187"/>
            <a:ext cx="3076956" cy="209580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4495" y="3555187"/>
            <a:ext cx="38405" cy="2095805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492094" y="3555187"/>
            <a:ext cx="3076956" cy="209580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2094" y="3555187"/>
            <a:ext cx="38405" cy="209580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495" y="5762549"/>
            <a:ext cx="6267298" cy="942746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54" y="6153912"/>
            <a:ext cx="60194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28854" y="625815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3951" y="6353251"/>
            <a:ext cx="114300" cy="1143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243023" y="625815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2342693" y="6353251"/>
            <a:ext cx="105156" cy="1143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289450" y="6258154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04495" y="101407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12-Month Targets (OKRs)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676595" y="1052474"/>
            <a:ext cx="9052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 2026 Goals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495605" y="1875434"/>
            <a:ext cx="1967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 ATTRITION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95605" y="2018081"/>
            <a:ext cx="20007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≤12.0%</a:t>
            </a:r>
            <a:endParaRPr lang="en-US" sz="3600" dirty="0"/>
          </a:p>
        </p:txBody>
      </p:sp>
      <p:sp>
        <p:nvSpPr>
          <p:cNvPr id="24" name="Text 20"/>
          <p:cNvSpPr txBox="1"/>
          <p:nvPr/>
        </p:nvSpPr>
        <p:spPr>
          <a:xfrm>
            <a:off x="2219249" y="2304288"/>
            <a:ext cx="6245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14.7%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95605" y="2580437"/>
            <a:ext cx="252008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KPI. Reduction stabilizes core workforce.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3682289" y="1880006"/>
            <a:ext cx="1681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TENURE CHURN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3682289" y="2022653"/>
            <a:ext cx="15910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-25%</a:t>
            </a:r>
            <a:endParaRPr lang="en-US" sz="36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4999939" y="2337206"/>
            <a:ext cx="114300" cy="15270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151730" y="2318004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Exits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3682289" y="2574950"/>
            <a:ext cx="266273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Driven by new onboarding &amp; mentorship programs.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95605" y="4091940"/>
            <a:ext cx="1519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SATISFACTION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495605" y="4235501"/>
            <a:ext cx="16002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+15%</a:t>
            </a:r>
            <a:endParaRPr lang="en-US" sz="3600" dirty="0"/>
          </a:p>
        </p:txBody>
      </p:sp>
      <p:sp>
        <p:nvSpPr>
          <p:cNvPr id="33" name="Text 28"/>
          <p:cNvSpPr txBox="1"/>
          <p:nvPr/>
        </p:nvSpPr>
        <p:spPr>
          <a:xfrm>
            <a:off x="1827886" y="4529938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&amp; Lab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495605" y="4787798"/>
            <a:ext cx="268193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in engagement scores (1-4 scale).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3682289" y="4175150"/>
            <a:ext cx="1843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SUCCESSION READINESS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3682289" y="4318711"/>
            <a:ext cx="17053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+20%</a:t>
            </a:r>
            <a:endParaRPr lang="en-US" sz="3600" dirty="0"/>
          </a:p>
        </p:txBody>
      </p:sp>
      <p:sp>
        <p:nvSpPr>
          <p:cNvPr id="37" name="Text 32"/>
          <p:cNvSpPr txBox="1"/>
          <p:nvPr/>
        </p:nvSpPr>
        <p:spPr>
          <a:xfrm>
            <a:off x="5119726" y="4614062"/>
            <a:ext cx="1086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Roles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3682289" y="4871009"/>
            <a:ext cx="26535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for Year 29+ retirement wave.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428854" y="5905195"/>
            <a:ext cx="2334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FRAMEWORK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809244" y="6238951"/>
            <a:ext cx="1305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Review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809244" y="6429146"/>
            <a:ext cx="1295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Audience: CEO, CHRO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2623414" y="6238951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Deep Dive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2623414" y="6429146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Audience: Function Leads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4470502" y="6238951"/>
            <a:ext cx="562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4462272" y="6429146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5257800" y="6238951"/>
            <a:ext cx="438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5151730" y="6429146"/>
            <a:ext cx="619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ROI/Value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6027725" y="6238951"/>
            <a:ext cx="419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VPs</a:t>
            </a:r>
            <a:endParaRPr lang="en-US" sz="1200" dirty="0"/>
          </a:p>
        </p:txBody>
      </p:sp>
      <p:sp>
        <p:nvSpPr>
          <p:cNvPr id="49" name="Text 44"/>
          <p:cNvSpPr txBox="1"/>
          <p:nvPr/>
        </p:nvSpPr>
        <p:spPr>
          <a:xfrm>
            <a:off x="5911596" y="6429146"/>
            <a:ext cx="619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90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l="0" r="0" t="0" b="0"/>
          <a:stretch/>
        </p:blipFill>
        <p:spPr>
          <a:xfrm>
            <a:off x="3054096" y="1865376"/>
            <a:ext cx="171907" cy="171907"/>
          </a:xfrm>
          <a:prstGeom prst="rect">
            <a:avLst/>
          </a:prstGeom>
        </p:spPr>
      </p:pic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 l="-1064" r="-1064" t="0" b="0"/>
          <a:stretch/>
        </p:blipFill>
        <p:spPr>
          <a:xfrm>
            <a:off x="6193231" y="1870862"/>
            <a:ext cx="219456" cy="171907"/>
          </a:xfrm>
          <a:prstGeom prst="rect">
            <a:avLst/>
          </a:prstGeom>
        </p:spPr>
      </p:pic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>
            <a:alphaModFix amt="50000"/>
          </a:blip>
          <a:srcRect l="0" r="0" t="0" b="0"/>
          <a:stretch/>
        </p:blipFill>
        <p:spPr>
          <a:xfrm>
            <a:off x="3054096" y="4082796"/>
            <a:ext cx="171907" cy="171907"/>
          </a:xfrm>
          <a:prstGeom prst="rect">
            <a:avLst/>
          </a:prstGeom>
        </p:spPr>
      </p:pic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>
            <a:alphaModFix amt="50000"/>
          </a:blip>
          <a:srcRect l="-760" r="-760" t="0" b="0"/>
          <a:stretch/>
        </p:blipFill>
        <p:spPr>
          <a:xfrm>
            <a:off x="6259982" y="4166006"/>
            <a:ext cx="152705" cy="171907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6793992" y="995782"/>
            <a:ext cx="5095951" cy="5715000"/>
          </a:xfrm>
          <a:prstGeom prst="roundRect">
            <a:avLst>
              <a:gd name="adj" fmla="val 402"/>
            </a:avLst>
          </a:prstGeom>
          <a:solidFill>
            <a:srgbClr val="002E6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10744200" y="614477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6" name="Shape 47"/>
          <p:cNvSpPr/>
          <p:nvPr/>
        </p:nvSpPr>
        <p:spPr>
          <a:xfrm>
            <a:off x="6488582" y="57908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6984187" y="1195121"/>
            <a:ext cx="2324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Required</a:t>
            </a:r>
            <a:endParaRPr lang="en-US" sz="1800" dirty="0"/>
          </a:p>
        </p:txBody>
      </p:sp>
      <p:sp>
        <p:nvSpPr>
          <p:cNvPr id="58" name="Text 49"/>
          <p:cNvSpPr txBox="1"/>
          <p:nvPr/>
        </p:nvSpPr>
        <p:spPr>
          <a:xfrm>
            <a:off x="6984187" y="1528877"/>
            <a:ext cx="4181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approval needed to launch Phase 1 initiatives.</a:t>
            </a:r>
            <a:endParaRPr lang="en-US" sz="1200" dirty="0"/>
          </a:p>
        </p:txBody>
      </p:sp>
      <p:sp>
        <p:nvSpPr>
          <p:cNvPr id="59" name="Shape 50"/>
          <p:cNvSpPr/>
          <p:nvPr/>
        </p:nvSpPr>
        <p:spPr>
          <a:xfrm>
            <a:off x="6984187" y="2983687"/>
            <a:ext cx="4714646" cy="923544"/>
          </a:xfrm>
          <a:prstGeom prst="roundRect">
            <a:avLst>
              <a:gd name="adj" fmla="val 816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7107631" y="3126334"/>
            <a:ext cx="228600" cy="228600"/>
          </a:xfrm>
          <a:prstGeom prst="roundRect">
            <a:avLst>
              <a:gd name="adj" fmla="val 66667"/>
            </a:avLst>
          </a:prstGeom>
          <a:noFill/>
          <a:ln w="12700">
            <a:solidFill>
              <a:srgbClr val="34D399"/>
            </a:solidFill>
            <a:prstDash val="solid"/>
          </a:ln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7169810" y="3183941"/>
            <a:ext cx="105156" cy="114300"/>
          </a:xfrm>
          <a:prstGeom prst="rect">
            <a:avLst/>
          </a:prstGeom>
        </p:spPr>
      </p:pic>
      <p:sp>
        <p:nvSpPr>
          <p:cNvPr id="62" name="Shape 52"/>
          <p:cNvSpPr/>
          <p:nvPr/>
        </p:nvSpPr>
        <p:spPr>
          <a:xfrm>
            <a:off x="6984187" y="4016959"/>
            <a:ext cx="4714646" cy="923544"/>
          </a:xfrm>
          <a:prstGeom prst="roundRect">
            <a:avLst>
              <a:gd name="adj" fmla="val 816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7107631" y="4159606"/>
            <a:ext cx="228600" cy="228600"/>
          </a:xfrm>
          <a:prstGeom prst="roundRect">
            <a:avLst>
              <a:gd name="adj" fmla="val 66667"/>
            </a:avLst>
          </a:prstGeom>
          <a:noFill/>
          <a:ln w="12700">
            <a:solidFill>
              <a:srgbClr val="34D399"/>
            </a:solidFill>
            <a:prstDash val="solid"/>
          </a:ln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7169810" y="4217213"/>
            <a:ext cx="105156" cy="114300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7413041" y="3136392"/>
            <a:ext cx="20912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Target Ranges</a:t>
            </a:r>
            <a:endParaRPr lang="en-US" sz="1300" dirty="0"/>
          </a:p>
        </p:txBody>
      </p:sp>
      <p:sp>
        <p:nvSpPr>
          <p:cNvPr id="66" name="Text 55"/>
          <p:cNvSpPr txBox="1"/>
          <p:nvPr/>
        </p:nvSpPr>
        <p:spPr>
          <a:xfrm>
            <a:off x="7413041" y="3421685"/>
            <a:ext cx="39483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Formalize the 12% attrition goal and associated departmental sub-targets.</a:t>
            </a:r>
            <a:endParaRPr lang="en-US" sz="1000" dirty="0"/>
          </a:p>
        </p:txBody>
      </p:sp>
      <p:sp>
        <p:nvSpPr>
          <p:cNvPr id="67" name="Text 56"/>
          <p:cNvSpPr txBox="1"/>
          <p:nvPr/>
        </p:nvSpPr>
        <p:spPr>
          <a:xfrm>
            <a:off x="7413041" y="4169664"/>
            <a:ext cx="21671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Endorse Pilot Resources</a:t>
            </a:r>
            <a:endParaRPr lang="en-US" sz="1300" dirty="0"/>
          </a:p>
        </p:txBody>
      </p:sp>
      <p:sp>
        <p:nvSpPr>
          <p:cNvPr id="68" name="Text 57"/>
          <p:cNvSpPr txBox="1"/>
          <p:nvPr/>
        </p:nvSpPr>
        <p:spPr>
          <a:xfrm>
            <a:off x="7413041" y="4454957"/>
            <a:ext cx="41870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budget for "Stay Interview" training and internal mobility platform pilot.</a:t>
            </a:r>
            <a:endParaRPr lang="en-US" sz="1000" dirty="0"/>
          </a:p>
        </p:txBody>
      </p:sp>
      <p:sp>
        <p:nvSpPr>
          <p:cNvPr id="69" name="Shape 58"/>
          <p:cNvSpPr/>
          <p:nvPr/>
        </p:nvSpPr>
        <p:spPr>
          <a:xfrm>
            <a:off x="6984187" y="6086246"/>
            <a:ext cx="4714646" cy="914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0" name="Shape 59"/>
          <p:cNvSpPr/>
          <p:nvPr/>
        </p:nvSpPr>
        <p:spPr>
          <a:xfrm>
            <a:off x="10110521" y="6248095"/>
            <a:ext cx="1591056" cy="267005"/>
          </a:xfrm>
          <a:prstGeom prst="roundRect">
            <a:avLst>
              <a:gd name="adj" fmla="val 342465"/>
            </a:avLst>
          </a:prstGeom>
          <a:solidFill>
            <a:srgbClr val="F59E0B"/>
          </a:solidFill>
          <a:ln/>
        </p:spPr>
      </p:sp>
      <p:sp>
        <p:nvSpPr>
          <p:cNvPr id="71" name="Text 60"/>
          <p:cNvSpPr txBox="1"/>
          <p:nvPr/>
        </p:nvSpPr>
        <p:spPr>
          <a:xfrm>
            <a:off x="6984187" y="6305702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900" dirty="0"/>
          </a:p>
        </p:txBody>
      </p:sp>
      <p:sp>
        <p:nvSpPr>
          <p:cNvPr id="72" name="Text 61"/>
          <p:cNvSpPr txBox="1"/>
          <p:nvPr/>
        </p:nvSpPr>
        <p:spPr>
          <a:xfrm>
            <a:off x="10224821" y="6295644"/>
            <a:ext cx="14621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APPROVAL</a:t>
            </a:r>
            <a:endParaRPr lang="en-US" sz="1000" dirty="0"/>
          </a:p>
        </p:txBody>
      </p:sp>
      <p:sp>
        <p:nvSpPr>
          <p:cNvPr id="73" name="Shape 62"/>
          <p:cNvSpPr/>
          <p:nvPr/>
        </p:nvSpPr>
        <p:spPr>
          <a:xfrm>
            <a:off x="0" y="0"/>
            <a:ext cx="12191695" cy="8476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63"/>
          <p:cNvSpPr/>
          <p:nvPr/>
        </p:nvSpPr>
        <p:spPr>
          <a:xfrm>
            <a:off x="0" y="8385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5" name="Shape 64"/>
          <p:cNvSpPr/>
          <p:nvPr/>
        </p:nvSpPr>
        <p:spPr>
          <a:xfrm>
            <a:off x="304495" y="225857"/>
            <a:ext cx="381305" cy="381305"/>
          </a:xfrm>
          <a:prstGeom prst="roundRect">
            <a:avLst>
              <a:gd name="adj" fmla="val 11990"/>
            </a:avLst>
          </a:prstGeom>
          <a:solidFill>
            <a:srgbClr val="002E6D"/>
          </a:solidFill>
          <a:ln/>
        </p:spPr>
      </p:sp>
      <p:pic>
        <p:nvPicPr>
          <p:cNvPr id="7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09651" y="331013"/>
            <a:ext cx="171907" cy="171907"/>
          </a:xfrm>
          <a:prstGeom prst="rect">
            <a:avLst/>
          </a:prstGeom>
        </p:spPr>
      </p:pic>
      <p:sp>
        <p:nvSpPr>
          <p:cNvPr id="77" name="Text 65"/>
          <p:cNvSpPr txBox="1"/>
          <p:nvPr/>
        </p:nvSpPr>
        <p:spPr>
          <a:xfrm>
            <a:off x="800100" y="152705"/>
            <a:ext cx="19431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ANALYTICS DASHBOARD</a:t>
            </a:r>
            <a:endParaRPr lang="en-US" sz="900" dirty="0"/>
          </a:p>
        </p:txBody>
      </p:sp>
      <p:sp>
        <p:nvSpPr>
          <p:cNvPr id="78" name="Text 66"/>
          <p:cNvSpPr txBox="1"/>
          <p:nvPr/>
        </p:nvSpPr>
        <p:spPr>
          <a:xfrm>
            <a:off x="800100" y="323698"/>
            <a:ext cx="48344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E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Targets, Governance &amp; Decisions</a:t>
            </a:r>
            <a:endParaRPr lang="en-US" sz="2200" dirty="0"/>
          </a:p>
        </p:txBody>
      </p:sp>
      <p:sp>
        <p:nvSpPr>
          <p:cNvPr id="79" name="Text 67"/>
          <p:cNvSpPr txBox="1"/>
          <p:nvPr/>
        </p:nvSpPr>
        <p:spPr>
          <a:xfrm>
            <a:off x="10421417" y="331013"/>
            <a:ext cx="15672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PATH FORWARD</a:t>
            </a:r>
            <a:endParaRPr lang="en-US" sz="1000" dirty="0"/>
          </a:p>
        </p:txBody>
      </p:sp>
      <p:sp>
        <p:nvSpPr>
          <p:cNvPr id="80" name="Shape 68"/>
          <p:cNvSpPr/>
          <p:nvPr/>
        </p:nvSpPr>
        <p:spPr>
          <a:xfrm>
            <a:off x="0" y="6819595"/>
            <a:ext cx="12191695" cy="3840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1" name="Shape 69"/>
          <p:cNvSpPr/>
          <p:nvPr/>
        </p:nvSpPr>
        <p:spPr>
          <a:xfrm>
            <a:off x="0" y="6819595"/>
            <a:ext cx="12191695" cy="38405"/>
          </a:xfrm>
          <a:prstGeom prst="rect">
            <a:avLst/>
          </a:prstGeom>
          <a:solidFill>
            <a:srgbClr val="002E6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2025-12-26T08:09:18Z</dcterms:created>
  <dcterms:modified xsi:type="dcterms:W3CDTF">2025-12-26T08:09:18Z</dcterms:modified>
</cp:coreProperties>
</file>